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Montserrat Light"/>
      <p:regular r:id="rId24"/>
      <p:bold r:id="rId25"/>
      <p:italic r:id="rId26"/>
      <p:boldItalic r:id="rId27"/>
    </p:embeddedFont>
    <p:embeddedFont>
      <p:font typeface="Montserrat ExtraBold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MontserratLight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ontserratLight-italic.fntdata"/><Relationship Id="rId25" Type="http://schemas.openxmlformats.org/officeDocument/2006/relationships/font" Target="fonts/MontserratLight-bold.fntdata"/><Relationship Id="rId28" Type="http://schemas.openxmlformats.org/officeDocument/2006/relationships/font" Target="fonts/MontserratExtraBold-bold.fntdata"/><Relationship Id="rId27" Type="http://schemas.openxmlformats.org/officeDocument/2006/relationships/font" Target="fonts/MontserratLigh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Extra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c3e70c20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c3e70c20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c4200c28c7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c4200c28c7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c3e70c202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c3e70c202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c4200c28c7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c4200c28c7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c21290821a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c21290821a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4093dd24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c4093dd24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c21290821a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c21290821a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c21290821a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c21290821a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0202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 dir="r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transition spd="med">
    <p:push dir="r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3.png"/><Relationship Id="rId7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hyperlink" Target="https://skillbox.ru/media/marketing/instruktsiya-kak-nastroit-effektivnuyu-reklamu-vo-vkontakte-za-60-minut/?ysclid=ltwal46szt147205076" TargetMode="External"/><Relationship Id="rId6" Type="http://schemas.openxmlformats.org/officeDocument/2006/relationships/hyperlink" Target="https://skillbox.ru/media/marketing/instruktsiya-kak-nastroit-effektivnuyu-reklamu-vo-vkontakte-za-60-minut/?ysclid=ltwal46szt147205076" TargetMode="External"/><Relationship Id="rId7" Type="http://schemas.openxmlformats.org/officeDocument/2006/relationships/image" Target="../media/image19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10.png"/><Relationship Id="rId5" Type="http://schemas.openxmlformats.org/officeDocument/2006/relationships/image" Target="../media/image16.png"/><Relationship Id="rId6" Type="http://schemas.openxmlformats.org/officeDocument/2006/relationships/image" Target="../media/image3.png"/><Relationship Id="rId7" Type="http://schemas.openxmlformats.org/officeDocument/2006/relationships/image" Target="../media/image18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3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62275"/>
            <a:ext cx="1350050" cy="6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5"/>
          <p:cNvPicPr preferRelativeResize="0"/>
          <p:nvPr/>
        </p:nvPicPr>
        <p:blipFill>
          <a:blip r:embed="rId4">
            <a:alphaModFix amt="7000"/>
          </a:blip>
          <a:stretch>
            <a:fillRect/>
          </a:stretch>
        </p:blipFill>
        <p:spPr>
          <a:xfrm>
            <a:off x="1862800" y="88834"/>
            <a:ext cx="5228150" cy="178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5"/>
          <p:cNvPicPr preferRelativeResize="0"/>
          <p:nvPr/>
        </p:nvPicPr>
        <p:blipFill>
          <a:blip r:embed="rId5">
            <a:alphaModFix amt="69000"/>
          </a:blip>
          <a:stretch>
            <a:fillRect/>
          </a:stretch>
        </p:blipFill>
        <p:spPr>
          <a:xfrm rot="-10799972">
            <a:off x="1712100" y="875403"/>
            <a:ext cx="7431900" cy="169771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>
            <p:ph type="ctrTitle"/>
          </p:nvPr>
        </p:nvSpPr>
        <p:spPr>
          <a:xfrm>
            <a:off x="360000" y="1077763"/>
            <a:ext cx="8784000" cy="1293000"/>
          </a:xfrm>
          <a:prstGeom prst="rect">
            <a:avLst/>
          </a:prstGeom>
        </p:spPr>
        <p:txBody>
          <a:bodyPr anchorCtr="0" anchor="b" bIns="91425" lIns="1620000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>
                <a:solidFill>
                  <a:srgbClr val="CDEC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АНАЛИЗ КОНКУРЕНТОВ</a:t>
            </a:r>
            <a:endParaRPr sz="3600">
              <a:solidFill>
                <a:srgbClr val="CDEC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>
                <a:solidFill>
                  <a:srgbClr val="CDEC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И ПОДГОТОВКА ТЗ</a:t>
            </a:r>
            <a:endParaRPr sz="3600">
              <a:solidFill>
                <a:srgbClr val="CDEC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3" name="Google Shape;103;p25"/>
          <p:cNvSpPr txBox="1"/>
          <p:nvPr>
            <p:ph idx="1" type="subTitle"/>
          </p:nvPr>
        </p:nvSpPr>
        <p:spPr>
          <a:xfrm>
            <a:off x="360000" y="2718450"/>
            <a:ext cx="8429700" cy="527400"/>
          </a:xfrm>
          <a:prstGeom prst="rect">
            <a:avLst/>
          </a:prstGeom>
        </p:spPr>
        <p:txBody>
          <a:bodyPr anchorCtr="0" anchor="t" bIns="91425" lIns="1620000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ru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START В SEO ДЛЯ ИНФОБИЗНЕСА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104" name="Google Shape;104;p25"/>
          <p:cNvSpPr txBox="1"/>
          <p:nvPr>
            <p:ph idx="1" type="subTitle"/>
          </p:nvPr>
        </p:nvSpPr>
        <p:spPr>
          <a:xfrm rot="-760">
            <a:off x="2009550" y="3319825"/>
            <a:ext cx="2715000" cy="415500"/>
          </a:xfrm>
          <a:prstGeom prst="rect">
            <a:avLst/>
          </a:prstGeom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0000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анализ конкурентов</a:t>
            </a:r>
            <a:endParaRPr sz="2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25"/>
          <p:cNvSpPr txBox="1"/>
          <p:nvPr>
            <p:ph idx="1" type="subTitle"/>
          </p:nvPr>
        </p:nvSpPr>
        <p:spPr>
          <a:xfrm>
            <a:off x="4790752" y="3319657"/>
            <a:ext cx="1988700" cy="415500"/>
          </a:xfrm>
          <a:prstGeom prst="rect">
            <a:avLst/>
          </a:prstGeom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0000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подготовка ТЗ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" name="Google Shape;106;p25"/>
          <p:cNvPicPr preferRelativeResize="0"/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-564399">
            <a:off x="1276931" y="2237543"/>
            <a:ext cx="575895" cy="72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5"/>
          <p:cNvSpPr txBox="1"/>
          <p:nvPr/>
        </p:nvSpPr>
        <p:spPr>
          <a:xfrm rot="1225">
            <a:off x="1806549" y="3933875"/>
            <a:ext cx="3368700" cy="4155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0000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фильтр Баден-Баден</a:t>
            </a:r>
            <a:endParaRPr sz="15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25"/>
          <p:cNvSpPr txBox="1"/>
          <p:nvPr/>
        </p:nvSpPr>
        <p:spPr>
          <a:xfrm rot="1225">
            <a:off x="5229924" y="3933875"/>
            <a:ext cx="3368700" cy="4155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0000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маркетинговая идея текста</a:t>
            </a:r>
            <a:endParaRPr sz="15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5"/>
          <p:cNvSpPr txBox="1"/>
          <p:nvPr>
            <p:ph idx="1" type="subTitle"/>
          </p:nvPr>
        </p:nvSpPr>
        <p:spPr>
          <a:xfrm>
            <a:off x="6845650" y="3319650"/>
            <a:ext cx="1752900" cy="415500"/>
          </a:xfrm>
          <a:prstGeom prst="rect">
            <a:avLst/>
          </a:prstGeom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0000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план статьи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6"/>
          <p:cNvPicPr preferRelativeResize="0"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rot="2356603">
            <a:off x="4916981" y="1235237"/>
            <a:ext cx="6109494" cy="20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6"/>
          <p:cNvPicPr preferRelativeResize="0"/>
          <p:nvPr/>
        </p:nvPicPr>
        <p:blipFill rotWithShape="1">
          <a:blip r:embed="rId4">
            <a:alphaModFix amt="50000"/>
          </a:blip>
          <a:srcRect b="0" l="709" r="709" t="0"/>
          <a:stretch/>
        </p:blipFill>
        <p:spPr>
          <a:xfrm>
            <a:off x="3936837" y="3277649"/>
            <a:ext cx="544700" cy="31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6"/>
          <p:cNvPicPr preferRelativeResize="0"/>
          <p:nvPr/>
        </p:nvPicPr>
        <p:blipFill rotWithShape="1">
          <a:blip r:embed="rId5">
            <a:alphaModFix amt="51000"/>
          </a:blip>
          <a:srcRect b="0" l="475" r="475" t="0"/>
          <a:stretch/>
        </p:blipFill>
        <p:spPr>
          <a:xfrm>
            <a:off x="311704" y="3277649"/>
            <a:ext cx="544700" cy="31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6"/>
          <p:cNvSpPr txBox="1"/>
          <p:nvPr/>
        </p:nvSpPr>
        <p:spPr>
          <a:xfrm>
            <a:off x="311699" y="3514200"/>
            <a:ext cx="3342600" cy="995400"/>
          </a:xfrm>
          <a:prstGeom prst="rect">
            <a:avLst/>
          </a:prstGeom>
          <a:solidFill>
            <a:srgbClr val="202020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Проанализировать контент 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 структуру статей конкурентов</a:t>
            </a:r>
            <a:endParaRPr>
              <a:solidFill>
                <a:srgbClr val="EFEFE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118" name="Google Shape;118;p26"/>
          <p:cNvPicPr preferRelativeResize="0"/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311712" y="1763049"/>
            <a:ext cx="521359" cy="35750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6"/>
          <p:cNvSpPr txBox="1"/>
          <p:nvPr/>
        </p:nvSpPr>
        <p:spPr>
          <a:xfrm>
            <a:off x="311725" y="2022650"/>
            <a:ext cx="3342600" cy="995400"/>
          </a:xfrm>
          <a:prstGeom prst="rect">
            <a:avLst/>
          </a:prstGeom>
          <a:solidFill>
            <a:srgbClr val="202020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Выбрать ключевой запрос по конкретной теме с самой </a:t>
            </a: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высокой</a:t>
            </a: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популярностью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0" name="Google Shape;120;p26"/>
          <p:cNvPicPr preferRelativeResize="0"/>
          <p:nvPr/>
        </p:nvPicPr>
        <p:blipFill>
          <a:blip r:embed="rId7">
            <a:alphaModFix amt="51000"/>
          </a:blip>
          <a:stretch>
            <a:fillRect/>
          </a:stretch>
        </p:blipFill>
        <p:spPr>
          <a:xfrm>
            <a:off x="3936821" y="1784124"/>
            <a:ext cx="544700" cy="31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6"/>
          <p:cNvSpPr txBox="1"/>
          <p:nvPr/>
        </p:nvSpPr>
        <p:spPr>
          <a:xfrm>
            <a:off x="3936814" y="2022650"/>
            <a:ext cx="3698100" cy="995400"/>
          </a:xfrm>
          <a:prstGeom prst="rect">
            <a:avLst/>
          </a:prstGeom>
          <a:solidFill>
            <a:srgbClr val="202020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Сохранить топ-5 статей конкурентов в поисковой выдаче</a:t>
            </a:r>
            <a:endParaRPr>
              <a:solidFill>
                <a:srgbClr val="EFEFE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22" name="Google Shape;122;p26"/>
          <p:cNvSpPr txBox="1"/>
          <p:nvPr/>
        </p:nvSpPr>
        <p:spPr>
          <a:xfrm>
            <a:off x="3936850" y="3521650"/>
            <a:ext cx="3698100" cy="995400"/>
          </a:xfrm>
          <a:prstGeom prst="rect">
            <a:avLst/>
          </a:prstGeom>
          <a:solidFill>
            <a:srgbClr val="202020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Сформировать название, план статьи на основе анализа конкурентов</a:t>
            </a:r>
            <a:endParaRPr>
              <a:solidFill>
                <a:srgbClr val="EFEFE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23" name="Google Shape;123;p26"/>
          <p:cNvSpPr txBox="1"/>
          <p:nvPr/>
        </p:nvSpPr>
        <p:spPr>
          <a:xfrm>
            <a:off x="311700" y="0"/>
            <a:ext cx="83631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КАК АНАЛИЗИРОВАТЬ</a:t>
            </a:r>
            <a:endParaRPr sz="30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КОНТЕНТ КОНКУРЕНТОВ</a:t>
            </a:r>
            <a:endParaRPr sz="30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3379" y="1643625"/>
            <a:ext cx="5700622" cy="3499874"/>
          </a:xfrm>
          <a:prstGeom prst="rect">
            <a:avLst/>
          </a:prstGeom>
          <a:noFill/>
          <a:ln>
            <a:noFill/>
          </a:ln>
          <a:effectLst>
            <a:outerShdw blurRad="371475" rotWithShape="0" algn="bl" dir="13140000" dist="95250">
              <a:srgbClr val="FECCCC">
                <a:alpha val="41000"/>
              </a:srgbClr>
            </a:outerShdw>
          </a:effectLst>
        </p:spPr>
      </p:pic>
      <p:sp>
        <p:nvSpPr>
          <p:cNvPr id="129" name="Google Shape;129;p27"/>
          <p:cNvSpPr txBox="1"/>
          <p:nvPr>
            <p:ph idx="4294967295" type="subTitle"/>
          </p:nvPr>
        </p:nvSpPr>
        <p:spPr>
          <a:xfrm>
            <a:off x="173400" y="1923750"/>
            <a:ext cx="31140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На п</a:t>
            </a:r>
            <a:r>
              <a:rPr lang="ru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римере запроса</a:t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«настройка рекламы в вк» </a:t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0" name="Google Shape;130;p27"/>
          <p:cNvPicPr preferRelativeResize="0"/>
          <p:nvPr/>
        </p:nvPicPr>
        <p:blipFill rotWithShape="1">
          <a:blip r:embed="rId4">
            <a:alphaModFix/>
          </a:blip>
          <a:srcRect b="2774" l="0" r="0" t="13640"/>
          <a:stretch/>
        </p:blipFill>
        <p:spPr>
          <a:xfrm>
            <a:off x="3443375" y="2173950"/>
            <a:ext cx="5700625" cy="29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7">
            <a:hlinkClick r:id="rId5"/>
          </p:cNvPr>
          <p:cNvSpPr/>
          <p:nvPr/>
        </p:nvSpPr>
        <p:spPr>
          <a:xfrm>
            <a:off x="3732500" y="2577350"/>
            <a:ext cx="2749500" cy="531600"/>
          </a:xfrm>
          <a:prstGeom prst="rect">
            <a:avLst/>
          </a:prstGeom>
          <a:noFill/>
          <a:ln cap="flat" cmpd="sng" w="19050">
            <a:solidFill>
              <a:srgbClr val="FDCD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7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82000" y="3108950"/>
            <a:ext cx="368700" cy="36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3400" y="116700"/>
            <a:ext cx="3269976" cy="170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7"/>
          <p:cNvSpPr txBox="1"/>
          <p:nvPr>
            <p:ph idx="4294967295" type="ctrTitle"/>
          </p:nvPr>
        </p:nvSpPr>
        <p:spPr>
          <a:xfrm>
            <a:off x="213893" y="182600"/>
            <a:ext cx="31890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ДЕМОНСТРАЦИЯ</a:t>
            </a:r>
            <a:endParaRPr sz="24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АНАЛИЗА </a:t>
            </a:r>
            <a:endParaRPr sz="24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КОНКУРЕНТОВ</a:t>
            </a:r>
            <a:endParaRPr sz="24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8"/>
          <p:cNvPicPr preferRelativeResize="0"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rot="2356603">
            <a:off x="4916981" y="1235237"/>
            <a:ext cx="6109494" cy="20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8"/>
          <p:cNvPicPr preferRelativeResize="0"/>
          <p:nvPr/>
        </p:nvPicPr>
        <p:blipFill rotWithShape="1">
          <a:blip r:embed="rId4">
            <a:alphaModFix amt="50000"/>
          </a:blip>
          <a:srcRect b="0" l="709" r="709" t="0"/>
          <a:stretch/>
        </p:blipFill>
        <p:spPr>
          <a:xfrm>
            <a:off x="311712" y="3348724"/>
            <a:ext cx="544700" cy="31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8"/>
          <p:cNvPicPr preferRelativeResize="0"/>
          <p:nvPr/>
        </p:nvPicPr>
        <p:blipFill rotWithShape="1">
          <a:blip r:embed="rId5">
            <a:alphaModFix amt="51000"/>
          </a:blip>
          <a:srcRect b="0" l="475" r="475" t="0"/>
          <a:stretch/>
        </p:blipFill>
        <p:spPr>
          <a:xfrm>
            <a:off x="5666129" y="1855199"/>
            <a:ext cx="544700" cy="31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8"/>
          <p:cNvSpPr txBox="1"/>
          <p:nvPr/>
        </p:nvSpPr>
        <p:spPr>
          <a:xfrm>
            <a:off x="5666128" y="2091750"/>
            <a:ext cx="2916300" cy="995400"/>
          </a:xfrm>
          <a:prstGeom prst="rect">
            <a:avLst/>
          </a:prstGeom>
          <a:solidFill>
            <a:srgbClr val="202020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Объем статьи - среднее кол-во знаков статей конкурентов без пробелов</a:t>
            </a:r>
            <a:endParaRPr>
              <a:solidFill>
                <a:srgbClr val="EFEFE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143" name="Google Shape;143;p28"/>
          <p:cNvPicPr preferRelativeResize="0"/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311712" y="1834124"/>
            <a:ext cx="521359" cy="35750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8"/>
          <p:cNvSpPr txBox="1"/>
          <p:nvPr/>
        </p:nvSpPr>
        <p:spPr>
          <a:xfrm>
            <a:off x="311725" y="2093727"/>
            <a:ext cx="2366700" cy="995400"/>
          </a:xfrm>
          <a:prstGeom prst="rect">
            <a:avLst/>
          </a:prstGeom>
          <a:solidFill>
            <a:srgbClr val="202020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Название статьи 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на основе запроса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5" name="Google Shape;145;p28"/>
          <p:cNvPicPr preferRelativeResize="0"/>
          <p:nvPr/>
        </p:nvPicPr>
        <p:blipFill>
          <a:blip r:embed="rId7">
            <a:alphaModFix amt="51000"/>
          </a:blip>
          <a:stretch>
            <a:fillRect/>
          </a:stretch>
        </p:blipFill>
        <p:spPr>
          <a:xfrm>
            <a:off x="2878271" y="1855199"/>
            <a:ext cx="544700" cy="31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8"/>
          <p:cNvSpPr txBox="1"/>
          <p:nvPr/>
        </p:nvSpPr>
        <p:spPr>
          <a:xfrm>
            <a:off x="2878279" y="2093727"/>
            <a:ext cx="2618400" cy="995400"/>
          </a:xfrm>
          <a:prstGeom prst="rect">
            <a:avLst/>
          </a:prstGeom>
          <a:solidFill>
            <a:srgbClr val="202020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План статьи - микротемы из анализа статей конкурентов</a:t>
            </a:r>
            <a:endParaRPr>
              <a:solidFill>
                <a:srgbClr val="EFEFE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147" name="Google Shape;147;p28"/>
          <p:cNvPicPr preferRelativeResize="0"/>
          <p:nvPr/>
        </p:nvPicPr>
        <p:blipFill rotWithShape="1">
          <a:blip r:embed="rId8">
            <a:alphaModFix amt="51000"/>
          </a:blip>
          <a:srcRect b="0" l="475" r="475" t="0"/>
          <a:stretch/>
        </p:blipFill>
        <p:spPr>
          <a:xfrm>
            <a:off x="2878287" y="3367462"/>
            <a:ext cx="544700" cy="31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8"/>
          <p:cNvSpPr txBox="1"/>
          <p:nvPr/>
        </p:nvSpPr>
        <p:spPr>
          <a:xfrm>
            <a:off x="311725" y="3592725"/>
            <a:ext cx="2366700" cy="885000"/>
          </a:xfrm>
          <a:prstGeom prst="rect">
            <a:avLst/>
          </a:prstGeom>
          <a:solidFill>
            <a:srgbClr val="202020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Уникальность контента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(минимум 90%)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8"/>
          <p:cNvSpPr txBox="1"/>
          <p:nvPr/>
        </p:nvSpPr>
        <p:spPr>
          <a:xfrm>
            <a:off x="2878300" y="3592725"/>
            <a:ext cx="3542400" cy="885000"/>
          </a:xfrm>
          <a:prstGeom prst="rect">
            <a:avLst/>
          </a:prstGeom>
          <a:solidFill>
            <a:srgbClr val="202020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Проверка на фильтр Баден-Баден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(не выше 6 баллов)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8"/>
          <p:cNvSpPr txBox="1"/>
          <p:nvPr/>
        </p:nvSpPr>
        <p:spPr>
          <a:xfrm>
            <a:off x="311700" y="0"/>
            <a:ext cx="83631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ПОДГОТОВКА ТЗ</a:t>
            </a:r>
            <a:endParaRPr sz="30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 НАПИСАНИЮ ТЕКСТА</a:t>
            </a:r>
            <a:endParaRPr sz="30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51" name="Google Shape;151;p28"/>
          <p:cNvPicPr preferRelativeResize="0"/>
          <p:nvPr/>
        </p:nvPicPr>
        <p:blipFill rotWithShape="1">
          <a:blip r:embed="rId9">
            <a:alphaModFix amt="50000"/>
          </a:blip>
          <a:srcRect b="0" l="709" r="709" t="0"/>
          <a:stretch/>
        </p:blipFill>
        <p:spPr>
          <a:xfrm>
            <a:off x="6623800" y="3348737"/>
            <a:ext cx="544700" cy="31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8"/>
          <p:cNvSpPr txBox="1"/>
          <p:nvPr/>
        </p:nvSpPr>
        <p:spPr>
          <a:xfrm>
            <a:off x="6623800" y="3592725"/>
            <a:ext cx="1909500" cy="885000"/>
          </a:xfrm>
          <a:prstGeom prst="rect">
            <a:avLst/>
          </a:prstGeom>
          <a:solidFill>
            <a:srgbClr val="202020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Маркетинговая 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идея текста</a:t>
            </a:r>
            <a:endParaRPr>
              <a:solidFill>
                <a:srgbClr val="EFEFE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400" y="1366875"/>
            <a:ext cx="6665500" cy="257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9"/>
          <p:cNvSpPr txBox="1"/>
          <p:nvPr>
            <p:ph idx="4294967295" type="subTitle"/>
          </p:nvPr>
        </p:nvSpPr>
        <p:spPr>
          <a:xfrm>
            <a:off x="311700" y="2844000"/>
            <a:ext cx="4866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На примере запроса «настройка рекламы в вк» после анализа статей конкурентов</a:t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29"/>
          <p:cNvSpPr txBox="1"/>
          <p:nvPr>
            <p:ph idx="4294967295" type="ctrTitle"/>
          </p:nvPr>
        </p:nvSpPr>
        <p:spPr>
          <a:xfrm>
            <a:off x="311708" y="1651500"/>
            <a:ext cx="85206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ДЕМОНСТРАЦИЯ</a:t>
            </a:r>
            <a:endParaRPr sz="36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ПОДГОТОВКИ ТЗ</a:t>
            </a:r>
            <a:endParaRPr sz="36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60" name="Google Shape;16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6851" y="3306550"/>
            <a:ext cx="2508149" cy="250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0"/>
          <p:cNvPicPr preferRelativeResize="0"/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 rot="5400039">
            <a:off x="6377357" y="2044085"/>
            <a:ext cx="4548383" cy="34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0"/>
          <p:cNvPicPr preferRelativeResize="0"/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366654">
            <a:off x="7187203" y="1209888"/>
            <a:ext cx="1152468" cy="264104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0"/>
          <p:cNvSpPr txBox="1"/>
          <p:nvPr>
            <p:ph idx="4294967295" type="ctrTitle"/>
          </p:nvPr>
        </p:nvSpPr>
        <p:spPr>
          <a:xfrm>
            <a:off x="311700" y="0"/>
            <a:ext cx="6781200" cy="920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ДОМАШНЕЕ ЗАДАНИЕ</a:t>
            </a:r>
            <a:endParaRPr sz="30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68" name="Google Shape;168;p30"/>
          <p:cNvGrpSpPr/>
          <p:nvPr/>
        </p:nvGrpSpPr>
        <p:grpSpPr>
          <a:xfrm>
            <a:off x="607300" y="948838"/>
            <a:ext cx="6119750" cy="648000"/>
            <a:chOff x="607300" y="948838"/>
            <a:chExt cx="6119750" cy="648000"/>
          </a:xfrm>
        </p:grpSpPr>
        <p:pic>
          <p:nvPicPr>
            <p:cNvPr id="169" name="Google Shape;169;p30"/>
            <p:cNvPicPr preferRelativeResize="0"/>
            <p:nvPr/>
          </p:nvPicPr>
          <p:blipFill rotWithShape="1">
            <a:blip r:embed="rId5">
              <a:alphaModFix amt="50000"/>
            </a:blip>
            <a:srcRect b="-3263" l="0" r="0" t="0"/>
            <a:stretch/>
          </p:blipFill>
          <p:spPr>
            <a:xfrm>
              <a:off x="607300" y="948838"/>
              <a:ext cx="521350" cy="36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30"/>
            <p:cNvSpPr txBox="1"/>
            <p:nvPr/>
          </p:nvSpPr>
          <p:spPr>
            <a:xfrm>
              <a:off x="1117950" y="948838"/>
              <a:ext cx="5609100" cy="648000"/>
            </a:xfrm>
            <a:prstGeom prst="rect">
              <a:avLst/>
            </a:prstGeom>
            <a:solidFill>
              <a:srgbClr val="202020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>
                  <a:solidFill>
                    <a:srgbClr val="EFEFEF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Скопировать шаблон к уроку, в котором вы будете выполнять практику</a:t>
              </a:r>
              <a:endParaRPr sz="1200">
                <a:solidFill>
                  <a:srgbClr val="EFEFEF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grpSp>
        <p:nvGrpSpPr>
          <p:cNvPr id="171" name="Google Shape;171;p30"/>
          <p:cNvGrpSpPr/>
          <p:nvPr/>
        </p:nvGrpSpPr>
        <p:grpSpPr>
          <a:xfrm>
            <a:off x="637092" y="2896050"/>
            <a:ext cx="6089908" cy="648000"/>
            <a:chOff x="637092" y="3247050"/>
            <a:chExt cx="6089908" cy="648000"/>
          </a:xfrm>
        </p:grpSpPr>
        <p:pic>
          <p:nvPicPr>
            <p:cNvPr id="172" name="Google Shape;172;p30"/>
            <p:cNvPicPr preferRelativeResize="0"/>
            <p:nvPr/>
          </p:nvPicPr>
          <p:blipFill rotWithShape="1">
            <a:blip r:embed="rId6">
              <a:alphaModFix amt="51000"/>
            </a:blip>
            <a:srcRect b="0" l="475" r="475" t="0"/>
            <a:stretch/>
          </p:blipFill>
          <p:spPr>
            <a:xfrm>
              <a:off x="637092" y="3247074"/>
              <a:ext cx="544700" cy="312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30"/>
            <p:cNvSpPr txBox="1"/>
            <p:nvPr/>
          </p:nvSpPr>
          <p:spPr>
            <a:xfrm>
              <a:off x="1113400" y="3247050"/>
              <a:ext cx="5613600" cy="648000"/>
            </a:xfrm>
            <a:prstGeom prst="rect">
              <a:avLst/>
            </a:prstGeom>
            <a:solidFill>
              <a:srgbClr val="202020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1100"/>
                </a:spcBef>
                <a:spcAft>
                  <a:spcPts val="1100"/>
                </a:spcAft>
                <a:buNone/>
              </a:pPr>
              <a:r>
                <a:rPr lang="ru">
                  <a:solidFill>
                    <a:srgbClr val="EFEFEF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В скопированном шаблоне написать ТЗ на создание статьи на основе анализа данных</a:t>
              </a:r>
              <a:endParaRPr>
                <a:solidFill>
                  <a:srgbClr val="EFEFEF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174" name="Google Shape;174;p30"/>
          <p:cNvPicPr preferRelativeResize="0"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rot="17">
            <a:off x="-1" y="4511286"/>
            <a:ext cx="9469998" cy="349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30"/>
          <p:cNvGrpSpPr/>
          <p:nvPr/>
        </p:nvGrpSpPr>
        <p:grpSpPr>
          <a:xfrm>
            <a:off x="595657" y="1754150"/>
            <a:ext cx="6131343" cy="984600"/>
            <a:chOff x="595657" y="1966638"/>
            <a:chExt cx="6131343" cy="984600"/>
          </a:xfrm>
        </p:grpSpPr>
        <p:pic>
          <p:nvPicPr>
            <p:cNvPr id="176" name="Google Shape;176;p30"/>
            <p:cNvPicPr preferRelativeResize="0"/>
            <p:nvPr/>
          </p:nvPicPr>
          <p:blipFill>
            <a:blip r:embed="rId7">
              <a:alphaModFix amt="51000"/>
            </a:blip>
            <a:stretch>
              <a:fillRect/>
            </a:stretch>
          </p:blipFill>
          <p:spPr>
            <a:xfrm>
              <a:off x="595657" y="1966645"/>
              <a:ext cx="544646" cy="3127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30"/>
            <p:cNvSpPr txBox="1"/>
            <p:nvPr/>
          </p:nvSpPr>
          <p:spPr>
            <a:xfrm>
              <a:off x="1113400" y="1966638"/>
              <a:ext cx="5613600" cy="984600"/>
            </a:xfrm>
            <a:prstGeom prst="rect">
              <a:avLst/>
            </a:prstGeom>
            <a:solidFill>
              <a:srgbClr val="202020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>
                  <a:solidFill>
                    <a:srgbClr val="EFEFEF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Проанализировать 5 первых статей конкурентов </a:t>
              </a:r>
              <a:endParaRPr>
                <a:solidFill>
                  <a:srgbClr val="EFEFEF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>
                  <a:solidFill>
                    <a:srgbClr val="EFEFEF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в поисковой выдаче на объем контента, заголовок </a:t>
              </a:r>
              <a:endParaRPr>
                <a:solidFill>
                  <a:srgbClr val="EFEFEF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>
                  <a:solidFill>
                    <a:srgbClr val="EFEFEF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(название статьи), подзаголовки (основные темы)</a:t>
              </a:r>
              <a:endParaRPr>
                <a:solidFill>
                  <a:srgbClr val="EFEFEF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sp>
        <p:nvSpPr>
          <p:cNvPr id="178" name="Google Shape;178;p30"/>
          <p:cNvSpPr/>
          <p:nvPr/>
        </p:nvSpPr>
        <p:spPr>
          <a:xfrm>
            <a:off x="9470000" y="3321438"/>
            <a:ext cx="289200" cy="19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30"/>
          <p:cNvPicPr preferRelativeResize="0"/>
          <p:nvPr/>
        </p:nvPicPr>
        <p:blipFill rotWithShape="1">
          <a:blip r:embed="rId8">
            <a:alphaModFix amt="50000"/>
          </a:blip>
          <a:srcRect b="0" l="709" r="709" t="0"/>
          <a:stretch/>
        </p:blipFill>
        <p:spPr>
          <a:xfrm>
            <a:off x="637100" y="3701362"/>
            <a:ext cx="544700" cy="31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0"/>
          <p:cNvSpPr txBox="1"/>
          <p:nvPr/>
        </p:nvSpPr>
        <p:spPr>
          <a:xfrm>
            <a:off x="1113400" y="3703671"/>
            <a:ext cx="5613600" cy="423900"/>
          </a:xfrm>
          <a:prstGeom prst="rect">
            <a:avLst/>
          </a:prstGeom>
          <a:solidFill>
            <a:srgbClr val="202020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ru">
                <a:solidFill>
                  <a:srgbClr val="EFEFE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Отправить задание куратору</a:t>
            </a:r>
            <a:endParaRPr>
              <a:solidFill>
                <a:srgbClr val="EFEFE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1"/>
          <p:cNvPicPr preferRelativeResize="0"/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 rot="5400039">
            <a:off x="6377357" y="2044085"/>
            <a:ext cx="4548383" cy="34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1"/>
          <p:cNvPicPr preferRelativeResize="0"/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366654">
            <a:off x="7187203" y="1209888"/>
            <a:ext cx="1152468" cy="264104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1"/>
          <p:cNvSpPr txBox="1"/>
          <p:nvPr>
            <p:ph idx="4294967295" type="ctrTitle"/>
          </p:nvPr>
        </p:nvSpPr>
        <p:spPr>
          <a:xfrm>
            <a:off x="311700" y="0"/>
            <a:ext cx="6781200" cy="920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ДОМАШНЕЕ ЗАДАНИЕ</a:t>
            </a:r>
            <a:endParaRPr sz="30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88" name="Google Shape;188;p31"/>
          <p:cNvPicPr preferRelativeResize="0"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rot="17">
            <a:off x="-1" y="4511286"/>
            <a:ext cx="9469998" cy="349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1"/>
          <p:cNvSpPr/>
          <p:nvPr/>
        </p:nvSpPr>
        <p:spPr>
          <a:xfrm>
            <a:off x="9470000" y="3321438"/>
            <a:ext cx="289200" cy="19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31"/>
          <p:cNvPicPr preferRelativeResize="0"/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2204175" y="1347300"/>
            <a:ext cx="5274349" cy="3386724"/>
          </a:xfrm>
          <a:prstGeom prst="rect">
            <a:avLst/>
          </a:prstGeom>
          <a:noFill/>
          <a:ln>
            <a:noFill/>
          </a:ln>
          <a:effectLst>
            <a:outerShdw blurRad="371475" rotWithShape="0" algn="bl" dir="13140000" dist="95250">
              <a:srgbClr val="FECCCC">
                <a:alpha val="41000"/>
              </a:srgbClr>
            </a:outerShdw>
          </a:effectLst>
        </p:spPr>
      </p:pic>
      <p:grpSp>
        <p:nvGrpSpPr>
          <p:cNvPr id="191" name="Google Shape;191;p31"/>
          <p:cNvGrpSpPr/>
          <p:nvPr/>
        </p:nvGrpSpPr>
        <p:grpSpPr>
          <a:xfrm>
            <a:off x="2204175" y="1347300"/>
            <a:ext cx="5274351" cy="3386724"/>
            <a:chOff x="1349275" y="821800"/>
            <a:chExt cx="5274351" cy="3386724"/>
          </a:xfrm>
        </p:grpSpPr>
        <p:pic>
          <p:nvPicPr>
            <p:cNvPr id="192" name="Google Shape;192;p31"/>
            <p:cNvPicPr preferRelativeResize="0"/>
            <p:nvPr/>
          </p:nvPicPr>
          <p:blipFill rotWithShape="1">
            <a:blip r:embed="rId5">
              <a:alphaModFix/>
            </a:blip>
            <a:srcRect b="3232" l="0" r="19607" t="0"/>
            <a:stretch/>
          </p:blipFill>
          <p:spPr>
            <a:xfrm>
              <a:off x="1349275" y="821825"/>
              <a:ext cx="4582952" cy="3386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31"/>
            <p:cNvPicPr preferRelativeResize="0"/>
            <p:nvPr/>
          </p:nvPicPr>
          <p:blipFill rotWithShape="1">
            <a:blip r:embed="rId5">
              <a:alphaModFix/>
            </a:blip>
            <a:srcRect b="3232" l="78635" r="0" t="0"/>
            <a:stretch/>
          </p:blipFill>
          <p:spPr>
            <a:xfrm>
              <a:off x="5405700" y="821800"/>
              <a:ext cx="1217926" cy="338672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4" name="Google Shape;194;p31"/>
          <p:cNvPicPr preferRelativeResize="0"/>
          <p:nvPr/>
        </p:nvPicPr>
        <p:blipFill rotWithShape="1">
          <a:blip r:embed="rId6">
            <a:alphaModFix/>
          </a:blip>
          <a:srcRect b="12376" l="2661" r="29784" t="29133"/>
          <a:stretch/>
        </p:blipFill>
        <p:spPr>
          <a:xfrm>
            <a:off x="2204175" y="1879925"/>
            <a:ext cx="5274348" cy="285409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1"/>
          <p:cNvSpPr txBox="1"/>
          <p:nvPr/>
        </p:nvSpPr>
        <p:spPr>
          <a:xfrm>
            <a:off x="197200" y="755850"/>
            <a:ext cx="823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Шаблон для анализа конкурентов и подготовки ТЗ к написанию текста</a:t>
            </a:r>
            <a:endParaRPr sz="1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2"/>
          <p:cNvPicPr preferRelativeResize="0"/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 rot="5400039">
            <a:off x="6377357" y="2044085"/>
            <a:ext cx="4548383" cy="34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2"/>
          <p:cNvPicPr preferRelativeResize="0"/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366654">
            <a:off x="7187203" y="1209888"/>
            <a:ext cx="1152468" cy="264104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2"/>
          <p:cNvSpPr txBox="1"/>
          <p:nvPr>
            <p:ph idx="4294967295" type="ctrTitle"/>
          </p:nvPr>
        </p:nvSpPr>
        <p:spPr>
          <a:xfrm>
            <a:off x="311700" y="0"/>
            <a:ext cx="6781200" cy="920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В СЛЕДУЮЩЕМ УРОКЕ</a:t>
            </a:r>
            <a:endParaRPr sz="30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03" name="Google Shape;203;p32"/>
          <p:cNvPicPr preferRelativeResize="0"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rot="17">
            <a:off x="-1" y="4511286"/>
            <a:ext cx="9469998" cy="349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2"/>
          <p:cNvSpPr/>
          <p:nvPr/>
        </p:nvSpPr>
        <p:spPr>
          <a:xfrm>
            <a:off x="9470000" y="3321438"/>
            <a:ext cx="289200" cy="19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32"/>
          <p:cNvPicPr preferRelativeResize="0"/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669025" y="1260437"/>
            <a:ext cx="521359" cy="35750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2"/>
          <p:cNvSpPr txBox="1"/>
          <p:nvPr/>
        </p:nvSpPr>
        <p:spPr>
          <a:xfrm>
            <a:off x="1145850" y="1260413"/>
            <a:ext cx="5609100" cy="504000"/>
          </a:xfrm>
          <a:prstGeom prst="rect">
            <a:avLst/>
          </a:prstGeom>
          <a:solidFill>
            <a:srgbClr val="202020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ru">
                <a:solidFill>
                  <a:srgbClr val="EFEFE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Как написать текст, притягивающий пользователя</a:t>
            </a:r>
            <a:endParaRPr>
              <a:solidFill>
                <a:srgbClr val="EFEFE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207" name="Google Shape;207;p32"/>
          <p:cNvPicPr preferRelativeResize="0"/>
          <p:nvPr/>
        </p:nvPicPr>
        <p:blipFill>
          <a:blip r:embed="rId6">
            <a:alphaModFix amt="51000"/>
          </a:blip>
          <a:stretch>
            <a:fillRect/>
          </a:stretch>
        </p:blipFill>
        <p:spPr>
          <a:xfrm>
            <a:off x="645732" y="1966645"/>
            <a:ext cx="544646" cy="312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2"/>
          <p:cNvPicPr preferRelativeResize="0"/>
          <p:nvPr/>
        </p:nvPicPr>
        <p:blipFill rotWithShape="1">
          <a:blip r:embed="rId7">
            <a:alphaModFix amt="51000"/>
          </a:blip>
          <a:srcRect b="0" l="475" r="475" t="0"/>
          <a:stretch/>
        </p:blipFill>
        <p:spPr>
          <a:xfrm>
            <a:off x="657342" y="2813874"/>
            <a:ext cx="544700" cy="31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2"/>
          <p:cNvSpPr txBox="1"/>
          <p:nvPr/>
        </p:nvSpPr>
        <p:spPr>
          <a:xfrm>
            <a:off x="1133650" y="2813850"/>
            <a:ext cx="5613600" cy="648000"/>
          </a:xfrm>
          <a:prstGeom prst="rect">
            <a:avLst/>
          </a:prstGeom>
          <a:solidFill>
            <a:srgbClr val="202020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EFEFE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Где бесплатно разместить контент, чтобы получить </a:t>
            </a:r>
            <a:endParaRPr>
              <a:solidFill>
                <a:srgbClr val="EFEFE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EFEFE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первые регистрации</a:t>
            </a:r>
            <a:endParaRPr>
              <a:solidFill>
                <a:srgbClr val="EFEFE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10" name="Google Shape;210;p32"/>
          <p:cNvSpPr txBox="1"/>
          <p:nvPr/>
        </p:nvSpPr>
        <p:spPr>
          <a:xfrm>
            <a:off x="1133650" y="1966650"/>
            <a:ext cx="5613600" cy="648000"/>
          </a:xfrm>
          <a:prstGeom prst="rect">
            <a:avLst/>
          </a:prstGeom>
          <a:solidFill>
            <a:srgbClr val="202020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EFEFE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Как найти подходящего копирайтера</a:t>
            </a:r>
            <a:r>
              <a:rPr lang="ru">
                <a:solidFill>
                  <a:srgbClr val="EFEFE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если не хочется писать текст самому</a:t>
            </a:r>
            <a:endParaRPr>
              <a:solidFill>
                <a:srgbClr val="EFEFE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050" y="179850"/>
            <a:ext cx="8765899" cy="472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3"/>
          <p:cNvPicPr preferRelativeResize="0"/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366658">
            <a:off x="144250" y="2203829"/>
            <a:ext cx="1210675" cy="277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3"/>
          <p:cNvSpPr txBox="1"/>
          <p:nvPr>
            <p:ph idx="4294967295" type="ctrTitle"/>
          </p:nvPr>
        </p:nvSpPr>
        <p:spPr>
          <a:xfrm>
            <a:off x="311700" y="317525"/>
            <a:ext cx="6117600" cy="15969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ДО ВСТРЕЧИ</a:t>
            </a:r>
            <a:endParaRPr sz="40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В СЛЕДУЮЩЕМ</a:t>
            </a:r>
            <a:endParaRPr sz="40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УРОКЕ</a:t>
            </a:r>
            <a:endParaRPr sz="40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